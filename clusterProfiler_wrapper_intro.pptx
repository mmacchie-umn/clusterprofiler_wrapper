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96" r:id="rId7"/>
    <p:sldId id="328" r:id="rId8"/>
    <p:sldId id="278" r:id="rId9"/>
    <p:sldId id="271" r:id="rId10"/>
    <p:sldId id="287" r:id="rId11"/>
    <p:sldId id="318" r:id="rId12"/>
    <p:sldId id="275" r:id="rId13"/>
    <p:sldId id="276" r:id="rId14"/>
    <p:sldId id="290" r:id="rId15"/>
    <p:sldId id="291" r:id="rId16"/>
    <p:sldId id="288" r:id="rId17"/>
    <p:sldId id="301" r:id="rId18"/>
    <p:sldId id="289" r:id="rId19"/>
    <p:sldId id="32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 showGuides="1">
      <p:cViewPr varScale="1">
        <p:scale>
          <a:sx n="128" d="100"/>
          <a:sy n="128" d="100"/>
        </p:scale>
        <p:origin x="4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4DD73-FB8B-8F44-A06F-E6CB480083B5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3BDE6B-8E06-6F4D-91D9-30D739BD9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35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/>
              <a:t>ORA looks at whether a subset of genes that you have already separated out associate significantly with certain pathways.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GSEA takes differential data from every measured gene and looks for pathways displaying significantly </a:t>
            </a:r>
            <a:r>
              <a:rPr lang="en-US" dirty="0" err="1"/>
              <a:t>co-ordinated</a:t>
            </a:r>
            <a:r>
              <a:rPr lang="en-US" dirty="0"/>
              <a:t> shifts in those values.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1C9230-84B1-A34D-B71C-DAD3D03DEC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4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DBE9-A018-6848-BA13-AE356EB44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2D9BB-064B-6F40-B9A1-352464885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30C2E-F1C0-3E4D-A795-6F744568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CEEC1-9F84-CD41-827B-D936EEFD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D2B1B-6B8E-1A43-A340-A4D8CB07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9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84EC-9B0D-0541-A681-4CBE88DB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6C700-AEA6-404E-B7D4-FCF268780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B238E-E7D5-0047-9643-139FA4C7C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830C-EECE-8D45-9D1D-BE883A74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52975-68F2-6747-93DD-CA72D40A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2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E000-AAB4-DF4D-8376-516840AF4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11978-2A84-4047-8441-80FB335A4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3525-1090-9049-BBDA-1FA5B853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29C36-3728-1C4F-A60A-F999D567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E2F72-7F0E-7740-A8ED-F9BEF7C7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3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94C0-184F-DA4A-821F-91C217D1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442B5-66A7-4442-BFE7-DD1BE8EA1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D4F37-20CF-7848-AD35-D34DAFEC0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8641D-4736-D241-BDB7-D6F42654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B0282-95B8-714E-ABEF-B61BD5F1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17FE7-111C-E94C-B1E6-C1623F13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5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CA1D-7BF1-3540-BE1F-18CD846B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0005F-A219-9E47-9ED0-41DAC26D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AD2A-7F95-A749-9B1F-8243188BF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7CD28-6222-8643-8C3A-BBD5A21E4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F66D9-DF1C-F747-8BA0-77DDD1909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EAB7F-C0F2-4443-BCB1-F103F090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BC83C-B66B-C540-B6B6-E00109ED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7E1CD-9772-6B4A-BC91-8731A15D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85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EE0B-7CFE-0D41-99DC-F297A63F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D9468-B0F2-4548-8845-AE655E6F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AE610-E409-8D46-8366-85A79606B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0BD82-0F14-0143-BA6E-C0B59D5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3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DAAEF2-0D36-AF4B-BABC-50BE42AE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7099D-9A89-1F4D-836B-5A6501E1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0B5F9-090A-FA4D-8BD2-B239DFB4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7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B866-1E2E-1641-A6EC-7AC33C30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25730-F9C6-C543-95C8-DB68E1DE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E219F-25EC-E247-AF4C-E6C297515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5229-0060-4241-91C6-7496FAC9B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8A10A-4B8E-A748-BD81-C0979DAF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31196-9FF8-5F4F-9209-399BC842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7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73F97-1F8C-7448-AF5D-3593ED6ED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EB9029-6483-6E45-B5C7-A23C0215A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79649-EAFC-C74A-9B88-C5FAFAB34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C33CA-4BCD-834E-8B00-3937ECA5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012C4-EE11-824D-BBF7-1F745C18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2BDFC-74B4-6C4F-8675-6207D8D7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2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6BE1-BFD5-E048-BF88-22D99278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6E617-9C11-8747-8BB5-BCB9CF7D9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48E3E-CFC1-6C4C-A5AA-1FDB3777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CFC05-3C4B-E647-84A6-A738DA1A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F711-E531-604B-A773-EEA84EF58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3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BC543-5F7D-6F40-AAE2-C04D25663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96819-DE44-9840-8CE3-8D7EB232F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CB355-C056-314E-A4CF-E46995DD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544ED-179D-6444-A40F-1D7E0621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7C98-F72F-1241-AEF3-106BC853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7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87E2C-654C-504B-8515-C5221AF6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6C473-2614-5944-9F6E-47D4FBB2D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C2E4C-EE78-5A40-A893-17FEE43B1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7D104-0F3F-094B-ABD3-CAEC00015644}" type="datetimeFigureOut">
              <a:rPr lang="en-US" smtClean="0"/>
              <a:t>12/16/20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F067-6AE5-3449-A6DA-563971002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70FEC-84A8-4C42-A523-57917A8C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36296-B7CA-6849-8898-8508AB5A3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2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DCCB-AAFF-CC40-B675-908577FABC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RIS </a:t>
            </a:r>
            <a:r>
              <a:rPr lang="en-US" dirty="0" err="1"/>
              <a:t>clusterProfiler</a:t>
            </a:r>
            <a:r>
              <a:rPr lang="en-US" dirty="0"/>
              <a:t> wrapper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18E3A-A42D-1845-B689-ACF664B12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3080"/>
            <a:ext cx="9144000" cy="994719"/>
          </a:xfrm>
        </p:spPr>
        <p:txBody>
          <a:bodyPr/>
          <a:lstStyle/>
          <a:p>
            <a:r>
              <a:rPr lang="en-US" dirty="0"/>
              <a:t>Marissa </a:t>
            </a:r>
            <a:r>
              <a:rPr lang="en-US" dirty="0" err="1"/>
              <a:t>Macchietto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540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527B69F-FAC5-3046-8E63-6078A80FF4F8}"/>
              </a:ext>
            </a:extLst>
          </p:cNvPr>
          <p:cNvSpPr/>
          <p:nvPr/>
        </p:nvSpPr>
        <p:spPr>
          <a:xfrm>
            <a:off x="0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8DF9D9-2EC7-1F47-9119-F73013FF810B}"/>
              </a:ext>
            </a:extLst>
          </p:cNvPr>
          <p:cNvSpPr txBox="1"/>
          <p:nvPr/>
        </p:nvSpPr>
        <p:spPr>
          <a:xfrm>
            <a:off x="141394" y="119797"/>
            <a:ext cx="2023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9C96E-935F-1741-9675-22BE010C97E0}"/>
              </a:ext>
            </a:extLst>
          </p:cNvPr>
          <p:cNvSpPr txBox="1"/>
          <p:nvPr/>
        </p:nvSpPr>
        <p:spPr>
          <a:xfrm>
            <a:off x="374754" y="1184224"/>
            <a:ext cx="1034456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 package for analyzing and visualizing functional profiles (pathways) of gene and gene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/>
              <a:t>Supported analyses: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Over-representation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Gene set enrichment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Biological theme comparison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/>
              <a:t>Pathway databases: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Gene Ontology (GO)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Kyoto Encyclopedia of Genes and Genomes (KEGG)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Reactome</a:t>
            </a:r>
            <a:r>
              <a:rPr lang="en-US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MsigDB</a:t>
            </a: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/>
              <a:t>Visualization (plot types):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barplots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cnetplot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dotplot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emapplot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5E82B-6846-614D-90D6-E1713085B3C9}"/>
              </a:ext>
            </a:extLst>
          </p:cNvPr>
          <p:cNvSpPr txBox="1"/>
          <p:nvPr/>
        </p:nvSpPr>
        <p:spPr>
          <a:xfrm>
            <a:off x="3567659" y="5463916"/>
            <a:ext cx="14708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gseaplot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goplot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upsetplot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597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EFBB88-AD25-D14E-A1F9-7057BFFBFBDB}"/>
              </a:ext>
            </a:extLst>
          </p:cNvPr>
          <p:cNvSpPr/>
          <p:nvPr/>
        </p:nvSpPr>
        <p:spPr>
          <a:xfrm>
            <a:off x="0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60C8C-BEB0-974B-BC6D-1D017190B5EB}"/>
              </a:ext>
            </a:extLst>
          </p:cNvPr>
          <p:cNvSpPr txBox="1"/>
          <p:nvPr/>
        </p:nvSpPr>
        <p:spPr>
          <a:xfrm>
            <a:off x="141394" y="119797"/>
            <a:ext cx="5641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– examples of analysis plots</a:t>
            </a:r>
          </a:p>
        </p:txBody>
      </p:sp>
      <p:pic>
        <p:nvPicPr>
          <p:cNvPr id="1026" name="Picture 2" descr="Dot plot of enriched terms.">
            <a:extLst>
              <a:ext uri="{FF2B5EF4-FFF2-40B4-BE49-F238E27FC236}">
                <a16:creationId xmlns:a16="http://schemas.microsoft.com/office/drawing/2014/main" id="{BF106FD8-7AC2-2749-94C9-4F6AC30EB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94" y="1946638"/>
            <a:ext cx="5793074" cy="386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F84CC4-72A0-D845-B6A9-80FD7B3E5328}"/>
              </a:ext>
            </a:extLst>
          </p:cNvPr>
          <p:cNvSpPr txBox="1"/>
          <p:nvPr/>
        </p:nvSpPr>
        <p:spPr>
          <a:xfrm>
            <a:off x="2374929" y="1255372"/>
            <a:ext cx="1292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dotplot</a:t>
            </a:r>
            <a:endParaRPr lang="en-US" sz="2800" b="1" dirty="0"/>
          </a:p>
        </p:txBody>
      </p:sp>
      <p:pic>
        <p:nvPicPr>
          <p:cNvPr id="1028" name="Picture 4" descr="Network plot of enriched terms.">
            <a:extLst>
              <a:ext uri="{FF2B5EF4-FFF2-40B4-BE49-F238E27FC236}">
                <a16:creationId xmlns:a16="http://schemas.microsoft.com/office/drawing/2014/main" id="{51518EE8-139D-9344-9895-8DC06BA98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82"/>
          <a:stretch/>
        </p:blipFill>
        <p:spPr bwMode="auto">
          <a:xfrm>
            <a:off x="6506824" y="1778592"/>
            <a:ext cx="5543782" cy="386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186606-BDBE-824E-9FF5-F61BF8DE8F69}"/>
              </a:ext>
            </a:extLst>
          </p:cNvPr>
          <p:cNvSpPr txBox="1"/>
          <p:nvPr/>
        </p:nvSpPr>
        <p:spPr>
          <a:xfrm>
            <a:off x="8491067" y="1255372"/>
            <a:ext cx="14293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cnetplot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10B56-F62A-AD47-AA83-53A7FC5A9307}"/>
              </a:ext>
            </a:extLst>
          </p:cNvPr>
          <p:cNvSpPr txBox="1"/>
          <p:nvPr/>
        </p:nvSpPr>
        <p:spPr>
          <a:xfrm>
            <a:off x="657922" y="6289288"/>
            <a:ext cx="724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of these plots can be generated for GO, KEGG, </a:t>
            </a:r>
            <a:r>
              <a:rPr lang="en-US" dirty="0" err="1"/>
              <a:t>Reactome</a:t>
            </a:r>
            <a:r>
              <a:rPr lang="en-US" dirty="0"/>
              <a:t>, and others </a:t>
            </a:r>
          </a:p>
        </p:txBody>
      </p:sp>
    </p:spTree>
    <p:extLst>
      <p:ext uri="{BB962C8B-B14F-4D97-AF65-F5344CB8AC3E}">
        <p14:creationId xmlns:p14="http://schemas.microsoft.com/office/powerpoint/2010/main" val="2525719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lot for results obtained from hypergeometric test and gene set enrichment analysis. default (A), pie_scale=1.5 (B), layout=">
            <a:extLst>
              <a:ext uri="{FF2B5EF4-FFF2-40B4-BE49-F238E27FC236}">
                <a16:creationId xmlns:a16="http://schemas.microsoft.com/office/drawing/2014/main" id="{F0349C57-7598-6A43-BC9E-392F3971B8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0001" b="50000"/>
          <a:stretch/>
        </p:blipFill>
        <p:spPr bwMode="auto">
          <a:xfrm>
            <a:off x="1" y="1778592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581A5B-AB7B-4E40-81CF-F560573F0C78}"/>
              </a:ext>
            </a:extLst>
          </p:cNvPr>
          <p:cNvSpPr/>
          <p:nvPr/>
        </p:nvSpPr>
        <p:spPr>
          <a:xfrm>
            <a:off x="0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41BFE-DCE6-A047-86D4-D53DA56DCD5D}"/>
              </a:ext>
            </a:extLst>
          </p:cNvPr>
          <p:cNvSpPr txBox="1"/>
          <p:nvPr/>
        </p:nvSpPr>
        <p:spPr>
          <a:xfrm>
            <a:off x="141394" y="119797"/>
            <a:ext cx="5641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– examples of analysis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E3405-CA31-C947-B47A-A9D304FF3929}"/>
              </a:ext>
            </a:extLst>
          </p:cNvPr>
          <p:cNvSpPr txBox="1"/>
          <p:nvPr/>
        </p:nvSpPr>
        <p:spPr>
          <a:xfrm>
            <a:off x="2374929" y="1255372"/>
            <a:ext cx="16257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emapplot</a:t>
            </a:r>
            <a:endParaRPr lang="en-US" sz="2800" b="1" dirty="0"/>
          </a:p>
        </p:txBody>
      </p:sp>
      <p:pic>
        <p:nvPicPr>
          <p:cNvPr id="2052" name="Picture 4" descr="Heatmap plot of enriched terms. default (A), foldChange=geneList (B)">
            <a:extLst>
              <a:ext uri="{FF2B5EF4-FFF2-40B4-BE49-F238E27FC236}">
                <a16:creationId xmlns:a16="http://schemas.microsoft.com/office/drawing/2014/main" id="{6734AC7A-353A-F44A-9932-4561AD75F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446" y="2356529"/>
            <a:ext cx="5782554" cy="2891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75FF7E-D19C-DF43-96AF-DE734DCDB0A4}"/>
              </a:ext>
            </a:extLst>
          </p:cNvPr>
          <p:cNvSpPr txBox="1"/>
          <p:nvPr/>
        </p:nvSpPr>
        <p:spPr>
          <a:xfrm>
            <a:off x="8487840" y="1348584"/>
            <a:ext cx="1455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heatplot</a:t>
            </a:r>
            <a:endParaRPr lang="en-US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011E1-09B8-0242-BC45-E5AC661A3683}"/>
              </a:ext>
            </a:extLst>
          </p:cNvPr>
          <p:cNvSpPr txBox="1"/>
          <p:nvPr/>
        </p:nvSpPr>
        <p:spPr>
          <a:xfrm>
            <a:off x="8933635" y="5247806"/>
            <a:ext cx="734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26402-5015-6644-B9EC-FE1E6540BCF6}"/>
              </a:ext>
            </a:extLst>
          </p:cNvPr>
          <p:cNvSpPr txBox="1"/>
          <p:nvPr/>
        </p:nvSpPr>
        <p:spPr>
          <a:xfrm rot="16200000">
            <a:off x="5916272" y="4244320"/>
            <a:ext cx="72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terms</a:t>
            </a:r>
          </a:p>
        </p:txBody>
      </p:sp>
    </p:spTree>
    <p:extLst>
      <p:ext uri="{BB962C8B-B14F-4D97-AF65-F5344CB8AC3E}">
        <p14:creationId xmlns:p14="http://schemas.microsoft.com/office/powerpoint/2010/main" val="1341795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10E275E-8B05-244F-A4A2-D07E53DD7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995" y="1244183"/>
            <a:ext cx="6874010" cy="529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B5F7A5-03B7-8C4F-AA72-E63AD5D5A3D3}"/>
              </a:ext>
            </a:extLst>
          </p:cNvPr>
          <p:cNvSpPr txBox="1"/>
          <p:nvPr/>
        </p:nvSpPr>
        <p:spPr>
          <a:xfrm>
            <a:off x="2658995" y="874851"/>
            <a:ext cx="315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Pathview</a:t>
            </a:r>
            <a:r>
              <a:rPr lang="en-US" b="1" dirty="0"/>
              <a:t> plots  (KEGG-specific)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15408-B266-2649-A93D-05C5EE64CB7E}"/>
              </a:ext>
            </a:extLst>
          </p:cNvPr>
          <p:cNvSpPr/>
          <p:nvPr/>
        </p:nvSpPr>
        <p:spPr>
          <a:xfrm>
            <a:off x="0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F0B57-A27B-B94E-8F60-6D6A6812C3B1}"/>
              </a:ext>
            </a:extLst>
          </p:cNvPr>
          <p:cNvSpPr txBox="1"/>
          <p:nvPr/>
        </p:nvSpPr>
        <p:spPr>
          <a:xfrm>
            <a:off x="141394" y="119797"/>
            <a:ext cx="5641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– examples of analysis plots</a:t>
            </a:r>
          </a:p>
        </p:txBody>
      </p:sp>
    </p:spTree>
    <p:extLst>
      <p:ext uri="{BB962C8B-B14F-4D97-AF65-F5344CB8AC3E}">
        <p14:creationId xmlns:p14="http://schemas.microsoft.com/office/powerpoint/2010/main" val="149188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B1661F-FA43-A747-816A-22FDED3F6D9D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3DB15-D4F5-0041-AA37-76BE5E9043E9}"/>
              </a:ext>
            </a:extLst>
          </p:cNvPr>
          <p:cNvSpPr txBox="1"/>
          <p:nvPr/>
        </p:nvSpPr>
        <p:spPr>
          <a:xfrm>
            <a:off x="141394" y="119797"/>
            <a:ext cx="8696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– compare profiles (“Biological theme comparison”)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9DD6F-2C36-2F42-AADC-B54E2FAF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66" y="785740"/>
            <a:ext cx="9281993" cy="6072260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11EB4638-0591-5044-8442-0EE2987FDE23}"/>
              </a:ext>
            </a:extLst>
          </p:cNvPr>
          <p:cNvSpPr/>
          <p:nvPr/>
        </p:nvSpPr>
        <p:spPr>
          <a:xfrm rot="5400000">
            <a:off x="5338540" y="5176193"/>
            <a:ext cx="219816" cy="1287966"/>
          </a:xfrm>
          <a:prstGeom prst="rightBrac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780F6C-6E63-454E-90F3-3A8DEF1903FF}"/>
              </a:ext>
            </a:extLst>
          </p:cNvPr>
          <p:cNvSpPr/>
          <p:nvPr/>
        </p:nvSpPr>
        <p:spPr>
          <a:xfrm rot="5400000">
            <a:off x="6922826" y="5176193"/>
            <a:ext cx="219816" cy="1287966"/>
          </a:xfrm>
          <a:prstGeom prst="rightBrac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C3F59-F2CE-EF41-8C29-7486593128FB}"/>
              </a:ext>
            </a:extLst>
          </p:cNvPr>
          <p:cNvSpPr txBox="1"/>
          <p:nvPr/>
        </p:nvSpPr>
        <p:spPr>
          <a:xfrm>
            <a:off x="4662163" y="5886540"/>
            <a:ext cx="1589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Gene X overexpression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33E6D-C0D8-F243-B45D-62726E18A408}"/>
              </a:ext>
            </a:extLst>
          </p:cNvPr>
          <p:cNvSpPr txBox="1"/>
          <p:nvPr/>
        </p:nvSpPr>
        <p:spPr>
          <a:xfrm>
            <a:off x="6233570" y="5873361"/>
            <a:ext cx="1589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Gene Y knockdown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C96F32-18D4-D142-8AEE-7EB1209169F9}"/>
              </a:ext>
            </a:extLst>
          </p:cNvPr>
          <p:cNvSpPr txBox="1"/>
          <p:nvPr/>
        </p:nvSpPr>
        <p:spPr>
          <a:xfrm>
            <a:off x="7676717" y="5904155"/>
            <a:ext cx="1589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Gene X over + </a:t>
            </a:r>
          </a:p>
          <a:p>
            <a:pPr algn="ctr"/>
            <a:r>
              <a:rPr lang="en-US" sz="1400" dirty="0"/>
              <a:t>Y knockdown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769A50-61E6-A840-9E09-A169EB59B6B1}"/>
              </a:ext>
            </a:extLst>
          </p:cNvPr>
          <p:cNvSpPr/>
          <p:nvPr/>
        </p:nvSpPr>
        <p:spPr>
          <a:xfrm>
            <a:off x="8575130" y="6518330"/>
            <a:ext cx="404541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86171E-E5F0-3C45-B3D5-0C58E2AF0C9E}"/>
              </a:ext>
            </a:extLst>
          </p:cNvPr>
          <p:cNvSpPr/>
          <p:nvPr/>
        </p:nvSpPr>
        <p:spPr>
          <a:xfrm>
            <a:off x="7875218" y="6504774"/>
            <a:ext cx="404541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9E61DC-32D0-2E40-9DFB-C5E8F5650F94}"/>
              </a:ext>
            </a:extLst>
          </p:cNvPr>
          <p:cNvSpPr/>
          <p:nvPr/>
        </p:nvSpPr>
        <p:spPr>
          <a:xfrm>
            <a:off x="6196892" y="6499761"/>
            <a:ext cx="404541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03CD6B-FD66-A448-801A-6111B7845A21}"/>
              </a:ext>
            </a:extLst>
          </p:cNvPr>
          <p:cNvSpPr/>
          <p:nvPr/>
        </p:nvSpPr>
        <p:spPr>
          <a:xfrm>
            <a:off x="6888593" y="6518330"/>
            <a:ext cx="404541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0A2E94-BF24-4049-AABB-81DF18DDC387}"/>
              </a:ext>
            </a:extLst>
          </p:cNvPr>
          <p:cNvSpPr/>
          <p:nvPr/>
        </p:nvSpPr>
        <p:spPr>
          <a:xfrm>
            <a:off x="5318680" y="6483460"/>
            <a:ext cx="404541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723448-0A00-8B45-949D-FEBF6901B993}"/>
              </a:ext>
            </a:extLst>
          </p:cNvPr>
          <p:cNvSpPr/>
          <p:nvPr/>
        </p:nvSpPr>
        <p:spPr>
          <a:xfrm>
            <a:off x="4585880" y="6511709"/>
            <a:ext cx="404541" cy="10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40C08DB-0B05-494D-99A5-5D9BA452D27C}"/>
              </a:ext>
            </a:extLst>
          </p:cNvPr>
          <p:cNvSpPr/>
          <p:nvPr/>
        </p:nvSpPr>
        <p:spPr>
          <a:xfrm rot="5400000">
            <a:off x="8465222" y="5176193"/>
            <a:ext cx="219816" cy="1287966"/>
          </a:xfrm>
          <a:prstGeom prst="rightBrac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40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D59B49-26E2-E648-912A-2797D3A4643B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5A455-82CC-114F-AB99-7DC85FBC8038}"/>
              </a:ext>
            </a:extLst>
          </p:cNvPr>
          <p:cNvSpPr txBox="1"/>
          <p:nvPr/>
        </p:nvSpPr>
        <p:spPr>
          <a:xfrm>
            <a:off x="141394" y="119797"/>
            <a:ext cx="3170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72C3D-8F87-C14D-A610-167453B0867D}"/>
              </a:ext>
            </a:extLst>
          </p:cNvPr>
          <p:cNvSpPr txBox="1"/>
          <p:nvPr/>
        </p:nvSpPr>
        <p:spPr>
          <a:xfrm>
            <a:off x="384382" y="917912"/>
            <a:ext cx="1142323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 package </a:t>
            </a:r>
            <a:r>
              <a:rPr lang="en-US" sz="2000" dirty="0">
                <a:solidFill>
                  <a:srgbClr val="FF0000"/>
                </a:solidFill>
              </a:rPr>
              <a:t>wrapper around </a:t>
            </a:r>
            <a:r>
              <a:rPr lang="en-US" sz="2000" dirty="0" err="1">
                <a:solidFill>
                  <a:srgbClr val="FF0000"/>
                </a:solidFill>
              </a:rPr>
              <a:t>clusterProfiler</a:t>
            </a:r>
            <a:r>
              <a:rPr lang="en-US" sz="2000" dirty="0"/>
              <a:t> for analyzing and visualizing functional profiles (pathways) of gene and gene clusters </a:t>
            </a:r>
            <a:r>
              <a:rPr lang="en-US" sz="2000" dirty="0">
                <a:solidFill>
                  <a:srgbClr val="FF0000"/>
                </a:solidFill>
              </a:rPr>
              <a:t>from an </a:t>
            </a:r>
            <a:r>
              <a:rPr lang="en-US" sz="2000" dirty="0" err="1">
                <a:solidFill>
                  <a:srgbClr val="FF0000"/>
                </a:solidFill>
              </a:rPr>
              <a:t>edgeR</a:t>
            </a:r>
            <a:r>
              <a:rPr lang="en-US" sz="2000" dirty="0">
                <a:solidFill>
                  <a:srgbClr val="FF0000"/>
                </a:solidFill>
              </a:rPr>
              <a:t> differential expression table (results from a pairwise-comparison)</a:t>
            </a: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/>
              <a:t>Supported analyses: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Over-representation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Gene set enrichment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Biological theme comparison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/>
              <a:t>Pathway databases: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Gene Ontology (GO) – cell processes,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Kyoto Encyclopedia of Genes and Genomes (KEGG)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0000"/>
                </a:solidFill>
              </a:rPr>
              <a:t>Reactome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MsigDB</a:t>
            </a: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u="sng" dirty="0"/>
              <a:t>Visualization (plot types):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barplot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0000"/>
                </a:solidFill>
              </a:rPr>
              <a:t>cnetplot</a:t>
            </a:r>
            <a:endParaRPr lang="en-US" sz="20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0000"/>
                </a:solidFill>
              </a:rPr>
              <a:t>dotplot</a:t>
            </a:r>
            <a:endParaRPr lang="en-US" sz="20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FF0000"/>
                </a:solidFill>
              </a:rPr>
              <a:t>emapplot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BB55E-1E3A-154A-8E06-75A5CE3151FD}"/>
              </a:ext>
            </a:extLst>
          </p:cNvPr>
          <p:cNvSpPr txBox="1"/>
          <p:nvPr/>
        </p:nvSpPr>
        <p:spPr>
          <a:xfrm>
            <a:off x="3578810" y="5508521"/>
            <a:ext cx="14708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gseaplot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goplot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upsetplot</a:t>
            </a:r>
            <a:endParaRPr lang="en-US" sz="2000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BDE05B9-CA6F-C44F-976A-FD94441FDABF}"/>
              </a:ext>
            </a:extLst>
          </p:cNvPr>
          <p:cNvSpPr/>
          <p:nvPr/>
        </p:nvSpPr>
        <p:spPr>
          <a:xfrm>
            <a:off x="6755471" y="3519139"/>
            <a:ext cx="412595" cy="858644"/>
          </a:xfrm>
          <a:prstGeom prst="rightBrac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EB5CB-CDF8-7F4C-BC32-7366AB2072E9}"/>
              </a:ext>
            </a:extLst>
          </p:cNvPr>
          <p:cNvSpPr txBox="1"/>
          <p:nvPr/>
        </p:nvSpPr>
        <p:spPr>
          <a:xfrm>
            <a:off x="7300638" y="3763795"/>
            <a:ext cx="390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Databases that wrapper calls on so far…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F6D3F3-7095-4443-98B9-67C062738308}"/>
              </a:ext>
            </a:extLst>
          </p:cNvPr>
          <p:cNvSpPr/>
          <p:nvPr/>
        </p:nvSpPr>
        <p:spPr>
          <a:xfrm>
            <a:off x="5548713" y="5508521"/>
            <a:ext cx="256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</a:rPr>
              <a:t>pathview</a:t>
            </a:r>
            <a:r>
              <a:rPr lang="en-US" dirty="0">
                <a:solidFill>
                  <a:srgbClr val="FF0000"/>
                </a:solidFill>
              </a:rPr>
              <a:t> plots (KEGG)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7A28A3-0C28-2C48-A3F4-79261BA04B76}"/>
              </a:ext>
            </a:extLst>
          </p:cNvPr>
          <p:cNvSpPr/>
          <p:nvPr/>
        </p:nvSpPr>
        <p:spPr>
          <a:xfrm>
            <a:off x="8115249" y="4749800"/>
            <a:ext cx="3822751" cy="1892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C9913-EBFB-CC46-A555-67F99B9EDC43}"/>
              </a:ext>
            </a:extLst>
          </p:cNvPr>
          <p:cNvSpPr txBox="1"/>
          <p:nvPr/>
        </p:nvSpPr>
        <p:spPr>
          <a:xfrm>
            <a:off x="8275477" y="5233908"/>
            <a:ext cx="3376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Plots generated will also be appropriately sized!</a:t>
            </a:r>
          </a:p>
        </p:txBody>
      </p:sp>
    </p:spTree>
    <p:extLst>
      <p:ext uri="{BB962C8B-B14F-4D97-AF65-F5344CB8AC3E}">
        <p14:creationId xmlns:p14="http://schemas.microsoft.com/office/powerpoint/2010/main" val="2973625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DB7ADD-4000-4D4A-8FB6-84CC8C99DE36}"/>
              </a:ext>
            </a:extLst>
          </p:cNvPr>
          <p:cNvSpPr/>
          <p:nvPr/>
        </p:nvSpPr>
        <p:spPr>
          <a:xfrm>
            <a:off x="-2791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64483-00A9-9F49-86FE-6CDFC2D647DD}"/>
              </a:ext>
            </a:extLst>
          </p:cNvPr>
          <p:cNvSpPr txBox="1"/>
          <p:nvPr/>
        </p:nvSpPr>
        <p:spPr>
          <a:xfrm>
            <a:off x="141394" y="119797"/>
            <a:ext cx="5926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supported organisms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05F7A2-CE56-A24B-B93D-BC9D7772F39E}"/>
              </a:ext>
            </a:extLst>
          </p:cNvPr>
          <p:cNvGraphicFramePr>
            <a:graphicFrameLocks noGrp="1"/>
          </p:cNvGraphicFramePr>
          <p:nvPr/>
        </p:nvGraphicFramePr>
        <p:xfrm>
          <a:off x="970156" y="1798908"/>
          <a:ext cx="7047572" cy="289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1893">
                  <a:extLst>
                    <a:ext uri="{9D8B030D-6E8A-4147-A177-3AD203B41FA5}">
                      <a16:colId xmlns:a16="http://schemas.microsoft.com/office/drawing/2014/main" val="931420323"/>
                    </a:ext>
                  </a:extLst>
                </a:gridCol>
                <a:gridCol w="1761893">
                  <a:extLst>
                    <a:ext uri="{9D8B030D-6E8A-4147-A177-3AD203B41FA5}">
                      <a16:colId xmlns:a16="http://schemas.microsoft.com/office/drawing/2014/main" val="4082861051"/>
                    </a:ext>
                  </a:extLst>
                </a:gridCol>
                <a:gridCol w="1761893">
                  <a:extLst>
                    <a:ext uri="{9D8B030D-6E8A-4147-A177-3AD203B41FA5}">
                      <a16:colId xmlns:a16="http://schemas.microsoft.com/office/drawing/2014/main" val="823651463"/>
                    </a:ext>
                  </a:extLst>
                </a:gridCol>
                <a:gridCol w="1761893">
                  <a:extLst>
                    <a:ext uri="{9D8B030D-6E8A-4147-A177-3AD203B41FA5}">
                      <a16:colId xmlns:a16="http://schemas.microsoft.com/office/drawing/2014/main" val="3855327956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msig_species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KEGG_species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reactome_species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22168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Bos taurus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org.Bt.eg.db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458182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Caenorhabditis elegans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org.Ce.eg.db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celegans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05003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Canis lupus </a:t>
                      </a:r>
                      <a:r>
                        <a:rPr lang="en-US" sz="1200" u="none" strike="noStrike" dirty="0" err="1">
                          <a:effectLst/>
                        </a:rPr>
                        <a:t>familiaris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org.Cf.eg.db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cfa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canine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625958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Danio rerio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org.Dr.eg.db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zebrafish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451758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Drosophila melanogaster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org.Dm.eg.db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fly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477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Gallus gallus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org.Gg.eg.db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gga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774003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Homo sapiens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org.Hs.eg.db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hsa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human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809809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Mus musculus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org.Mm.eg.db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mmu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mouse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340781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Rattus norvegicus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org.Rn.eg.db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rno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54565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Saccharomyces cerevisiae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org.Sc.eg.db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sce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yeast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9739137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Sus scrofa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org.Ss.eg.db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ssc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50478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C3A368-BBC2-314F-A289-141564D1782B}"/>
              </a:ext>
            </a:extLst>
          </p:cNvPr>
          <p:cNvSpPr txBox="1"/>
          <p:nvPr/>
        </p:nvSpPr>
        <p:spPr>
          <a:xfrm>
            <a:off x="516488" y="1106472"/>
            <a:ext cx="3189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species_databases.txt</a:t>
            </a:r>
            <a:r>
              <a:rPr lang="en-US" b="1" dirty="0"/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81D21-CE98-434F-82B9-A3F3264B9E7B}"/>
              </a:ext>
            </a:extLst>
          </p:cNvPr>
          <p:cNvSpPr txBox="1"/>
          <p:nvPr/>
        </p:nvSpPr>
        <p:spPr>
          <a:xfrm>
            <a:off x="8664497" y="1918010"/>
            <a:ext cx="2287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11 organisms so far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8A0584-4CE1-0141-8D0F-C435682A0B5D}"/>
              </a:ext>
            </a:extLst>
          </p:cNvPr>
          <p:cNvSpPr txBox="1"/>
          <p:nvPr/>
        </p:nvSpPr>
        <p:spPr>
          <a:xfrm>
            <a:off x="2915928" y="1475804"/>
            <a:ext cx="1353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USED BY GO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73A58-E076-5D4E-AFA7-31D2C20D358D}"/>
              </a:ext>
            </a:extLst>
          </p:cNvPr>
          <p:cNvSpPr txBox="1"/>
          <p:nvPr/>
        </p:nvSpPr>
        <p:spPr>
          <a:xfrm>
            <a:off x="4583150" y="1475804"/>
            <a:ext cx="1580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USED BY KEGG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013BA8-2FDD-1445-8B0B-D533BEBD7EAD}"/>
              </a:ext>
            </a:extLst>
          </p:cNvPr>
          <p:cNvSpPr txBox="1"/>
          <p:nvPr/>
        </p:nvSpPr>
        <p:spPr>
          <a:xfrm>
            <a:off x="6186273" y="1475804"/>
            <a:ext cx="2126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USED BY REACTOME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8B5DCD-68F0-E743-BA44-FC80B0046A14}"/>
              </a:ext>
            </a:extLst>
          </p:cNvPr>
          <p:cNvSpPr txBox="1"/>
          <p:nvPr/>
        </p:nvSpPr>
        <p:spPr>
          <a:xfrm>
            <a:off x="869795" y="5762959"/>
            <a:ext cx="7456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add additional species to this file, and in theory, the </a:t>
            </a:r>
            <a:r>
              <a:rPr lang="en-US" dirty="0" err="1"/>
              <a:t>Rscript</a:t>
            </a:r>
            <a:r>
              <a:rPr lang="en-US" dirty="0"/>
              <a:t> should work. </a:t>
            </a:r>
          </a:p>
          <a:p>
            <a:r>
              <a:rPr lang="en-US" b="1" dirty="0"/>
              <a:t>AT A MINIMUM, will need information in the first two columns.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9DE880-CE7C-0741-8044-9E1321DED020}"/>
              </a:ext>
            </a:extLst>
          </p:cNvPr>
          <p:cNvSpPr txBox="1"/>
          <p:nvPr/>
        </p:nvSpPr>
        <p:spPr>
          <a:xfrm>
            <a:off x="1070517" y="48396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9718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B89EBF-FDFC-C140-942F-2910786D0728}"/>
              </a:ext>
            </a:extLst>
          </p:cNvPr>
          <p:cNvGraphicFramePr>
            <a:graphicFrameLocks noGrp="1"/>
          </p:cNvGraphicFramePr>
          <p:nvPr/>
        </p:nvGraphicFramePr>
        <p:xfrm>
          <a:off x="970156" y="1798908"/>
          <a:ext cx="7047572" cy="289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1893">
                  <a:extLst>
                    <a:ext uri="{9D8B030D-6E8A-4147-A177-3AD203B41FA5}">
                      <a16:colId xmlns:a16="http://schemas.microsoft.com/office/drawing/2014/main" val="931420323"/>
                    </a:ext>
                  </a:extLst>
                </a:gridCol>
                <a:gridCol w="1761893">
                  <a:extLst>
                    <a:ext uri="{9D8B030D-6E8A-4147-A177-3AD203B41FA5}">
                      <a16:colId xmlns:a16="http://schemas.microsoft.com/office/drawing/2014/main" val="4082861051"/>
                    </a:ext>
                  </a:extLst>
                </a:gridCol>
                <a:gridCol w="1761893">
                  <a:extLst>
                    <a:ext uri="{9D8B030D-6E8A-4147-A177-3AD203B41FA5}">
                      <a16:colId xmlns:a16="http://schemas.microsoft.com/office/drawing/2014/main" val="823651463"/>
                    </a:ext>
                  </a:extLst>
                </a:gridCol>
                <a:gridCol w="1761893">
                  <a:extLst>
                    <a:ext uri="{9D8B030D-6E8A-4147-A177-3AD203B41FA5}">
                      <a16:colId xmlns:a16="http://schemas.microsoft.com/office/drawing/2014/main" val="3855327956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msig_species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KEGG_species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reactome_species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22168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Bos taurus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org.Bt.eg.db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bta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458182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Caenorhabditis elegans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org.Ce.eg.db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celegans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405003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Canis lupus familiaris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org.Cf.eg.db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cfa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canine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625958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Danio rerio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org.Dr.eg.db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dre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zebrafish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451758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Drosophila melanogaster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org.Dm.eg.db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dme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fly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477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Gallus gallus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org.Gg.eg.db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gga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774003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Homo sapiens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org.Hs.eg.db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hsa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human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809809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Mus musculus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org.Mm.eg.db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mmu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mouse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340781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Rattus norvegicus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org.Rn.eg.db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rno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rat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54565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Saccharomyces cerevisiae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org.Sc.eg.db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sce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yeast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9739137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Sus scrofa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org.Ss.eg.db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err="1">
                          <a:effectLst/>
                        </a:rPr>
                        <a:t>ssc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50478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5DB7ADD-4000-4D4A-8FB6-84CC8C99DE36}"/>
              </a:ext>
            </a:extLst>
          </p:cNvPr>
          <p:cNvSpPr/>
          <p:nvPr/>
        </p:nvSpPr>
        <p:spPr>
          <a:xfrm>
            <a:off x="-2791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64483-00A9-9F49-86FE-6CDFC2D647DD}"/>
              </a:ext>
            </a:extLst>
          </p:cNvPr>
          <p:cNvSpPr txBox="1"/>
          <p:nvPr/>
        </p:nvSpPr>
        <p:spPr>
          <a:xfrm>
            <a:off x="141394" y="119797"/>
            <a:ext cx="5926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supported organisms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02B3C-6364-EA4E-ACAA-46AF0C18FC28}"/>
              </a:ext>
            </a:extLst>
          </p:cNvPr>
          <p:cNvSpPr txBox="1"/>
          <p:nvPr/>
        </p:nvSpPr>
        <p:spPr>
          <a:xfrm>
            <a:off x="869795" y="5762959"/>
            <a:ext cx="7456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add additional species to this file, and in theory, the </a:t>
            </a:r>
            <a:r>
              <a:rPr lang="en-US" dirty="0" err="1"/>
              <a:t>Rscript</a:t>
            </a:r>
            <a:r>
              <a:rPr lang="en-US" dirty="0"/>
              <a:t> should work. </a:t>
            </a:r>
          </a:p>
          <a:p>
            <a:r>
              <a:rPr lang="en-US" b="1" dirty="0"/>
              <a:t>AT A MINIMUM, will need information in the first two columns.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58569-2492-FA41-A7A4-F0B439A96D21}"/>
              </a:ext>
            </a:extLst>
          </p:cNvPr>
          <p:cNvSpPr txBox="1"/>
          <p:nvPr/>
        </p:nvSpPr>
        <p:spPr>
          <a:xfrm>
            <a:off x="1070517" y="4839629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977848-7C5A-4248-BCEC-675285EBE4C9}"/>
              </a:ext>
            </a:extLst>
          </p:cNvPr>
          <p:cNvSpPr txBox="1"/>
          <p:nvPr/>
        </p:nvSpPr>
        <p:spPr>
          <a:xfrm>
            <a:off x="8664497" y="1918010"/>
            <a:ext cx="2287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11 organisms so far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E7863-DC4F-4446-8C72-9E0A8DAC3DCA}"/>
              </a:ext>
            </a:extLst>
          </p:cNvPr>
          <p:cNvSpPr txBox="1"/>
          <p:nvPr/>
        </p:nvSpPr>
        <p:spPr>
          <a:xfrm>
            <a:off x="516488" y="1106472"/>
            <a:ext cx="3189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species_databases.txt</a:t>
            </a:r>
            <a:r>
              <a:rPr lang="en-US" b="1" dirty="0"/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AD59C-F4AD-EA4E-A62D-02DAFAF2FB75}"/>
              </a:ext>
            </a:extLst>
          </p:cNvPr>
          <p:cNvSpPr txBox="1"/>
          <p:nvPr/>
        </p:nvSpPr>
        <p:spPr>
          <a:xfrm>
            <a:off x="2510495" y="4694508"/>
            <a:ext cx="23904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This is an actually a Bioconductor package name that is loaded (required for gene ID conversions to ENTREZ IDs)</a:t>
            </a:r>
          </a:p>
        </p:txBody>
      </p:sp>
    </p:spTree>
    <p:extLst>
      <p:ext uri="{BB962C8B-B14F-4D97-AF65-F5344CB8AC3E}">
        <p14:creationId xmlns:p14="http://schemas.microsoft.com/office/powerpoint/2010/main" val="3476230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01FBCF-7D9D-6B42-8094-04FF596B6378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A1FD6-2EBE-B24E-9F82-84F8BFB9031E}"/>
              </a:ext>
            </a:extLst>
          </p:cNvPr>
          <p:cNvSpPr txBox="1"/>
          <p:nvPr/>
        </p:nvSpPr>
        <p:spPr>
          <a:xfrm>
            <a:off x="141394" y="119797"/>
            <a:ext cx="3978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usage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A0E3B-DB3C-B84F-A64A-0EC9D2F5B1D3}"/>
              </a:ext>
            </a:extLst>
          </p:cNvPr>
          <p:cNvSpPr txBox="1"/>
          <p:nvPr/>
        </p:nvSpPr>
        <p:spPr>
          <a:xfrm>
            <a:off x="512956" y="1115122"/>
            <a:ext cx="606204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There are two files you need to have in the same directory: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run_clusterProfiler.R</a:t>
            </a:r>
            <a:r>
              <a:rPr lang="en-US" dirty="0"/>
              <a:t>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species_databases.txt</a:t>
            </a:r>
            <a:r>
              <a:rPr lang="en-US" dirty="0"/>
              <a:t>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Load R/3.6.0 (</a:t>
            </a:r>
            <a:r>
              <a:rPr lang="en-US" dirty="0">
                <a:solidFill>
                  <a:srgbClr val="FF0000"/>
                </a:solidFill>
              </a:rPr>
              <a:t>TESTED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clusterprofiler</a:t>
            </a:r>
            <a:r>
              <a:rPr lang="en-US" dirty="0"/>
              <a:t> wrapper: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5A986-0823-654E-9D61-BA3F493D4793}"/>
              </a:ext>
            </a:extLst>
          </p:cNvPr>
          <p:cNvSpPr txBox="1"/>
          <p:nvPr/>
        </p:nvSpPr>
        <p:spPr>
          <a:xfrm>
            <a:off x="936702" y="3557239"/>
            <a:ext cx="745563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Rscript</a:t>
            </a:r>
            <a:r>
              <a:rPr lang="en-US" dirty="0"/>
              <a:t>  </a:t>
            </a:r>
            <a:r>
              <a:rPr lang="en-US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run_clusterProfiler.R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-f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edgeR_DEresults_table.txt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-s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Mus_musculus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EE91B-2EA0-2C4C-AD05-A4A36643C7C1}"/>
              </a:ext>
            </a:extLst>
          </p:cNvPr>
          <p:cNvSpPr txBox="1"/>
          <p:nvPr/>
        </p:nvSpPr>
        <p:spPr>
          <a:xfrm>
            <a:off x="936702" y="5363737"/>
            <a:ext cx="8706166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u="sng" dirty="0"/>
              <a:t>Required arguments:</a:t>
            </a:r>
          </a:p>
          <a:p>
            <a:r>
              <a:rPr lang="en-US" dirty="0"/>
              <a:t>	-f 	DE results table from </a:t>
            </a:r>
            <a:r>
              <a:rPr lang="en-US" dirty="0" err="1"/>
              <a:t>edgeR</a:t>
            </a:r>
            <a:r>
              <a:rPr lang="en-US" dirty="0"/>
              <a:t> (either all genes or the subset of DE genes)</a:t>
            </a:r>
          </a:p>
          <a:p>
            <a:r>
              <a:rPr lang="en-US" dirty="0"/>
              <a:t>	-s 	Organism name (</a:t>
            </a:r>
            <a:r>
              <a:rPr lang="en-US" dirty="0" err="1"/>
              <a:t>Genus_species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36D31-0CC9-6841-802F-5212F277A568}"/>
              </a:ext>
            </a:extLst>
          </p:cNvPr>
          <p:cNvSpPr txBox="1"/>
          <p:nvPr/>
        </p:nvSpPr>
        <p:spPr>
          <a:xfrm>
            <a:off x="1260764" y="4162759"/>
            <a:ext cx="763189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Will install all the required packages – including the organism database package</a:t>
            </a:r>
          </a:p>
        </p:txBody>
      </p:sp>
    </p:spTree>
    <p:extLst>
      <p:ext uri="{BB962C8B-B14F-4D97-AF65-F5344CB8AC3E}">
        <p14:creationId xmlns:p14="http://schemas.microsoft.com/office/powerpoint/2010/main" val="214751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6A1693-DFCD-0C4B-B65B-7C74C8BC52DC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ACD0B-86C6-5A47-80E2-DBF762D1BEBC}"/>
              </a:ext>
            </a:extLst>
          </p:cNvPr>
          <p:cNvSpPr txBox="1"/>
          <p:nvPr/>
        </p:nvSpPr>
        <p:spPr>
          <a:xfrm>
            <a:off x="141394" y="119797"/>
            <a:ext cx="680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options and default settings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33B1C49-2D8E-3342-9E97-B2934928CABF}"/>
              </a:ext>
            </a:extLst>
          </p:cNvPr>
          <p:cNvGraphicFramePr>
            <a:graphicFrameLocks noGrp="1"/>
          </p:cNvGraphicFramePr>
          <p:nvPr/>
        </p:nvGraphicFramePr>
        <p:xfrm>
          <a:off x="537736" y="1165055"/>
          <a:ext cx="10925718" cy="5265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687">
                  <a:extLst>
                    <a:ext uri="{9D8B030D-6E8A-4147-A177-3AD203B41FA5}">
                      <a16:colId xmlns:a16="http://schemas.microsoft.com/office/drawing/2014/main" val="3369702546"/>
                    </a:ext>
                  </a:extLst>
                </a:gridCol>
                <a:gridCol w="7434753">
                  <a:extLst>
                    <a:ext uri="{9D8B030D-6E8A-4147-A177-3AD203B41FA5}">
                      <a16:colId xmlns:a16="http://schemas.microsoft.com/office/drawing/2014/main" val="216166251"/>
                    </a:ext>
                  </a:extLst>
                </a:gridCol>
                <a:gridCol w="2085278">
                  <a:extLst>
                    <a:ext uri="{9D8B030D-6E8A-4147-A177-3AD203B41FA5}">
                      <a16:colId xmlns:a16="http://schemas.microsoft.com/office/drawing/2014/main" val="2281703098"/>
                    </a:ext>
                  </a:extLst>
                </a:gridCol>
              </a:tblGrid>
              <a:tr h="358679">
                <a:tc>
                  <a:txBody>
                    <a:bodyPr/>
                    <a:lstStyle/>
                    <a:p>
                      <a:r>
                        <a:rPr lang="en-US" dirty="0"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29699"/>
                  </a:ext>
                </a:extLst>
              </a:tr>
              <a:tr h="596363">
                <a:tc>
                  <a:txBody>
                    <a:bodyPr/>
                    <a:lstStyle/>
                    <a:p>
                      <a:r>
                        <a:rPr lang="en-US" sz="1600" dirty="0"/>
                        <a:t>-d    [string]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Output directory name to save results to (creates a folder called “</a:t>
                      </a:r>
                      <a:r>
                        <a:rPr lang="en-US" sz="1600" dirty="0" err="1"/>
                        <a:t>clusterprofiler_results</a:t>
                      </a:r>
                      <a:r>
                        <a:rPr lang="en-US" sz="1600" dirty="0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Current working directory (./)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255370"/>
                  </a:ext>
                </a:extLst>
              </a:tr>
              <a:tr h="596363">
                <a:tc>
                  <a:txBody>
                    <a:bodyPr/>
                    <a:lstStyle/>
                    <a:p>
                      <a:r>
                        <a:rPr lang="en-US" sz="1600" b="1" dirty="0"/>
                        <a:t>-</a:t>
                      </a:r>
                      <a:r>
                        <a:rPr lang="en-US" sz="1600" b="1" dirty="0" err="1"/>
                        <a:t>i</a:t>
                      </a:r>
                      <a:r>
                        <a:rPr lang="en-US" sz="1600" b="1" dirty="0"/>
                        <a:t>     </a:t>
                      </a:r>
                      <a:r>
                        <a:rPr lang="en-US" sz="1600" dirty="0"/>
                        <a:t>[string]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GeneID</a:t>
                      </a:r>
                      <a:r>
                        <a:rPr lang="en-US" sz="1600" dirty="0"/>
                        <a:t> format/type. Either: ENSEMBL, SYMBOL, ENTREZ, etc. (Can find available gene types from </a:t>
                      </a:r>
                      <a:r>
                        <a:rPr lang="en-US" sz="1600" dirty="0" err="1"/>
                        <a:t>Org.Xx.eg.db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ENSEMBL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050393"/>
                  </a:ext>
                </a:extLst>
              </a:tr>
              <a:tr h="724830">
                <a:tc>
                  <a:txBody>
                    <a:bodyPr/>
                    <a:lstStyle/>
                    <a:p>
                      <a:r>
                        <a:rPr lang="en-US" sz="1600" b="1" dirty="0"/>
                        <a:t>-p    </a:t>
                      </a:r>
                      <a:r>
                        <a:rPr lang="en-US" sz="1600" dirty="0"/>
                        <a:t>[float]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Gene FDR cut-off to apply to the DEG table prior to functional pathway analysis (float)</a:t>
                      </a:r>
                    </a:p>
                    <a:p>
                      <a:r>
                        <a:rPr lang="en-US" sz="1050" dirty="0"/>
                        <a:t>[Use if DEG table contains all significant and non-significant results]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106299"/>
                  </a:ext>
                </a:extLst>
              </a:tr>
              <a:tr h="596363">
                <a:tc>
                  <a:txBody>
                    <a:bodyPr/>
                    <a:lstStyle/>
                    <a:p>
                      <a:r>
                        <a:rPr lang="en-US" sz="1600" b="1" dirty="0"/>
                        <a:t>-c    </a:t>
                      </a:r>
                      <a:r>
                        <a:rPr lang="en-US" sz="1600" dirty="0"/>
                        <a:t>[float]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Log2 fold change cutoff for differentially expressed genes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597351"/>
                  </a:ext>
                </a:extLst>
              </a:tr>
              <a:tr h="596363">
                <a:tc>
                  <a:txBody>
                    <a:bodyPr/>
                    <a:lstStyle/>
                    <a:p>
                      <a:r>
                        <a:rPr lang="en-US" sz="1600" b="1" dirty="0"/>
                        <a:t>-n    </a:t>
                      </a:r>
                      <a:r>
                        <a:rPr lang="en-US" sz="1600" dirty="0"/>
                        <a:t>[integer]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Number of ontology terms to report (report top X terms)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Reports all terms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679725"/>
                  </a:ext>
                </a:extLst>
              </a:tr>
              <a:tr h="596363">
                <a:tc>
                  <a:txBody>
                    <a:bodyPr/>
                    <a:lstStyle/>
                    <a:p>
                      <a:r>
                        <a:rPr lang="en-US" sz="1600" b="1" dirty="0"/>
                        <a:t>-g    </a:t>
                      </a:r>
                      <a:r>
                        <a:rPr lang="en-US" sz="1600" dirty="0"/>
                        <a:t>[integer]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Number of DEGs to use for functional pathway analysis (use top X DEGs)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(Genes with p-value less than 0.05 (or user-specified cutoff) are sorted (largest to smallest) by the absolute value of log2FC. Top 200 genes are kept be default).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12632"/>
                  </a:ext>
                </a:extLst>
              </a:tr>
              <a:tr h="596363">
                <a:tc>
                  <a:txBody>
                    <a:bodyPr/>
                    <a:lstStyle/>
                    <a:p>
                      <a:r>
                        <a:rPr lang="en-US" sz="1600" b="1" dirty="0"/>
                        <a:t>-a    </a:t>
                      </a:r>
                      <a:r>
                        <a:rPr lang="en-US" sz="1600" dirty="0"/>
                        <a:t>[float]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Ontology term over representation test p-value cutoff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93144"/>
                  </a:ext>
                </a:extLst>
              </a:tr>
              <a:tr h="596363">
                <a:tc>
                  <a:txBody>
                    <a:bodyPr/>
                    <a:lstStyle/>
                    <a:p>
                      <a:r>
                        <a:rPr lang="en-US" sz="1600" b="1" dirty="0"/>
                        <a:t>-b    </a:t>
                      </a:r>
                      <a:r>
                        <a:rPr lang="en-US" sz="1600" dirty="0"/>
                        <a:t>[string]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Gene Ontology (GO) domain or branch to query. Either: MF (Molecular Function), CC (Cellular Component), BP (Biological Process), or ALL (all three)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05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888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C13C2C-41CD-9342-93BD-CDB8545E0AD6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99B4E8-7E07-544F-8BFE-A5976B4AB6B2}"/>
              </a:ext>
            </a:extLst>
          </p:cNvPr>
          <p:cNvSpPr txBox="1"/>
          <p:nvPr/>
        </p:nvSpPr>
        <p:spPr>
          <a:xfrm>
            <a:off x="141394" y="119797"/>
            <a:ext cx="525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usage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703BF-7343-C245-BEF4-1052937FA235}"/>
              </a:ext>
            </a:extLst>
          </p:cNvPr>
          <p:cNvSpPr txBox="1"/>
          <p:nvPr/>
        </p:nvSpPr>
        <p:spPr>
          <a:xfrm>
            <a:off x="401444" y="1148576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0F147-33EE-AC42-A628-BC973BA33905}"/>
              </a:ext>
            </a:extLst>
          </p:cNvPr>
          <p:cNvSpPr/>
          <p:nvPr/>
        </p:nvSpPr>
        <p:spPr>
          <a:xfrm>
            <a:off x="401444" y="1666206"/>
            <a:ext cx="10604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Rscript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run_clusterProfiler.R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-f DEresults_Group3_vs_Group4_allgenes.txt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-d test_mouse_top20terms_pvalue0.01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-s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Mus_musculus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SYMBOL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-n 20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-p 0.01 </a:t>
            </a:r>
          </a:p>
        </p:txBody>
      </p:sp>
    </p:spTree>
    <p:extLst>
      <p:ext uri="{BB962C8B-B14F-4D97-AF65-F5344CB8AC3E}">
        <p14:creationId xmlns:p14="http://schemas.microsoft.com/office/powerpoint/2010/main" val="20904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C13C2C-41CD-9342-93BD-CDB8545E0AD6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99B4E8-7E07-544F-8BFE-A5976B4AB6B2}"/>
              </a:ext>
            </a:extLst>
          </p:cNvPr>
          <p:cNvSpPr txBox="1"/>
          <p:nvPr/>
        </p:nvSpPr>
        <p:spPr>
          <a:xfrm>
            <a:off x="141394" y="119797"/>
            <a:ext cx="525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usage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703BF-7343-C245-BEF4-1052937FA235}"/>
              </a:ext>
            </a:extLst>
          </p:cNvPr>
          <p:cNvSpPr txBox="1"/>
          <p:nvPr/>
        </p:nvSpPr>
        <p:spPr>
          <a:xfrm>
            <a:off x="401444" y="1148576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0F147-33EE-AC42-A628-BC973BA33905}"/>
              </a:ext>
            </a:extLst>
          </p:cNvPr>
          <p:cNvSpPr/>
          <p:nvPr/>
        </p:nvSpPr>
        <p:spPr>
          <a:xfrm>
            <a:off x="401444" y="1666206"/>
            <a:ext cx="10604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Rscript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run_clusterProfiler.R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-f DEresults_Group3_vs_Group4_allgenes.txt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-d test_mouse_top20terms_pvalue0.01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-s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Mus_musculus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SYMBOL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-n 20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-p 0.01 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E41314-5AA5-114F-8A97-88E6097261AB}"/>
              </a:ext>
            </a:extLst>
          </p:cNvPr>
          <p:cNvCxnSpPr/>
          <p:nvPr/>
        </p:nvCxnSpPr>
        <p:spPr>
          <a:xfrm>
            <a:off x="613318" y="2241395"/>
            <a:ext cx="52522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wn Arrow 10">
            <a:extLst>
              <a:ext uri="{FF2B5EF4-FFF2-40B4-BE49-F238E27FC236}">
                <a16:creationId xmlns:a16="http://schemas.microsoft.com/office/drawing/2014/main" id="{E265385E-B266-E742-A60D-03560AF300AB}"/>
              </a:ext>
            </a:extLst>
          </p:cNvPr>
          <p:cNvSpPr/>
          <p:nvPr/>
        </p:nvSpPr>
        <p:spPr>
          <a:xfrm>
            <a:off x="2769549" y="2252546"/>
            <a:ext cx="586968" cy="159328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-Down Arrow 8">
            <a:extLst>
              <a:ext uri="{FF2B5EF4-FFF2-40B4-BE49-F238E27FC236}">
                <a16:creationId xmlns:a16="http://schemas.microsoft.com/office/drawing/2014/main" id="{FC60C632-60E6-8F47-AEEE-90C6CE0A08CF}"/>
              </a:ext>
            </a:extLst>
          </p:cNvPr>
          <p:cNvSpPr/>
          <p:nvPr/>
        </p:nvSpPr>
        <p:spPr>
          <a:xfrm>
            <a:off x="1059720" y="3049187"/>
            <a:ext cx="364037" cy="84749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1DEA6-7542-AE43-B80F-8A31CA4AC78A}"/>
              </a:ext>
            </a:extLst>
          </p:cNvPr>
          <p:cNvCxnSpPr>
            <a:cxnSpLocks/>
          </p:cNvCxnSpPr>
          <p:nvPr/>
        </p:nvCxnSpPr>
        <p:spPr>
          <a:xfrm>
            <a:off x="669073" y="3056621"/>
            <a:ext cx="8920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71992C-463B-A249-8969-D85CA606F389}"/>
              </a:ext>
            </a:extLst>
          </p:cNvPr>
          <p:cNvSpPr txBox="1"/>
          <p:nvPr/>
        </p:nvSpPr>
        <p:spPr>
          <a:xfrm>
            <a:off x="1035514" y="3863894"/>
            <a:ext cx="377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Gene IDs are in gene SYMBOL format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A803FE-3FF0-5940-A2C8-E63DAEB277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98"/>
          <a:stretch/>
        </p:blipFill>
        <p:spPr>
          <a:xfrm>
            <a:off x="1035514" y="4457385"/>
            <a:ext cx="9022885" cy="2277749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FE25F9-CC39-F94E-B7F4-86DC707A282C}"/>
              </a:ext>
            </a:extLst>
          </p:cNvPr>
          <p:cNvSpPr txBox="1"/>
          <p:nvPr/>
        </p:nvSpPr>
        <p:spPr>
          <a:xfrm>
            <a:off x="916763" y="408805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B5BDB0-2A90-6649-BEE2-F0BCEAFD6E13}"/>
              </a:ext>
            </a:extLst>
          </p:cNvPr>
          <p:cNvSpPr txBox="1"/>
          <p:nvPr/>
        </p:nvSpPr>
        <p:spPr>
          <a:xfrm>
            <a:off x="2125142" y="4088054"/>
            <a:ext cx="695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logFC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BE39EF-1C65-1347-A0C7-F315718996A8}"/>
              </a:ext>
            </a:extLst>
          </p:cNvPr>
          <p:cNvSpPr txBox="1"/>
          <p:nvPr/>
        </p:nvSpPr>
        <p:spPr>
          <a:xfrm>
            <a:off x="3928542" y="4088054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logCPM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7AD2AF-200E-DA4E-8466-7F9C6F1141F3}"/>
              </a:ext>
            </a:extLst>
          </p:cNvPr>
          <p:cNvSpPr txBox="1"/>
          <p:nvPr/>
        </p:nvSpPr>
        <p:spPr>
          <a:xfrm>
            <a:off x="5903108" y="406538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pValue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3ED2D9-CC27-D04F-BED2-D5D57AC7988A}"/>
              </a:ext>
            </a:extLst>
          </p:cNvPr>
          <p:cNvSpPr txBox="1"/>
          <p:nvPr/>
        </p:nvSpPr>
        <p:spPr>
          <a:xfrm>
            <a:off x="8011308" y="4088054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FDR</a:t>
            </a:r>
          </a:p>
        </p:txBody>
      </p:sp>
    </p:spTree>
    <p:extLst>
      <p:ext uri="{BB962C8B-B14F-4D97-AF65-F5344CB8AC3E}">
        <p14:creationId xmlns:p14="http://schemas.microsoft.com/office/powerpoint/2010/main" val="525066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C13C2C-41CD-9342-93BD-CDB8545E0AD6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99B4E8-7E07-544F-8BFE-A5976B4AB6B2}"/>
              </a:ext>
            </a:extLst>
          </p:cNvPr>
          <p:cNvSpPr txBox="1"/>
          <p:nvPr/>
        </p:nvSpPr>
        <p:spPr>
          <a:xfrm>
            <a:off x="141394" y="119797"/>
            <a:ext cx="525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usage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703BF-7343-C245-BEF4-1052937FA235}"/>
              </a:ext>
            </a:extLst>
          </p:cNvPr>
          <p:cNvSpPr txBox="1"/>
          <p:nvPr/>
        </p:nvSpPr>
        <p:spPr>
          <a:xfrm>
            <a:off x="401444" y="1148576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Mouse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0F147-33EE-AC42-A628-BC973BA33905}"/>
              </a:ext>
            </a:extLst>
          </p:cNvPr>
          <p:cNvSpPr/>
          <p:nvPr/>
        </p:nvSpPr>
        <p:spPr>
          <a:xfrm>
            <a:off x="401444" y="1666206"/>
            <a:ext cx="10604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Rscript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run_cluster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rofiler.R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-f DEresults_Group3_vs_Group4_allgenes.txt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-d test_mouse_top20terms_pvalue0.01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-s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Mus_musculus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SYMBOL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-n 20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-p 0.01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41434-0624-1643-BA36-CF756ED6BF9E}"/>
              </a:ext>
            </a:extLst>
          </p:cNvPr>
          <p:cNvSpPr txBox="1"/>
          <p:nvPr/>
        </p:nvSpPr>
        <p:spPr>
          <a:xfrm>
            <a:off x="1493366" y="3328199"/>
            <a:ext cx="2605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[p-value cut-off for DEGs]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ED2D7-C3F3-7A45-9360-C7605CCAA04B}"/>
              </a:ext>
            </a:extLst>
          </p:cNvPr>
          <p:cNvSpPr txBox="1"/>
          <p:nvPr/>
        </p:nvSpPr>
        <p:spPr>
          <a:xfrm>
            <a:off x="1493365" y="3047175"/>
            <a:ext cx="451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[reports top 20 ontology terms – all analyses]</a:t>
            </a:r>
          </a:p>
        </p:txBody>
      </p:sp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E19B1105-E7BD-5D4E-93E0-46FFDB731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82" y="3978555"/>
            <a:ext cx="10754626" cy="23332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75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C13C2C-41CD-9342-93BD-CDB8545E0AD6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99B4E8-7E07-544F-8BFE-A5976B4AB6B2}"/>
              </a:ext>
            </a:extLst>
          </p:cNvPr>
          <p:cNvSpPr txBox="1"/>
          <p:nvPr/>
        </p:nvSpPr>
        <p:spPr>
          <a:xfrm>
            <a:off x="141394" y="119797"/>
            <a:ext cx="525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usage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703BF-7343-C245-BEF4-1052937FA235}"/>
              </a:ext>
            </a:extLst>
          </p:cNvPr>
          <p:cNvSpPr txBox="1"/>
          <p:nvPr/>
        </p:nvSpPr>
        <p:spPr>
          <a:xfrm>
            <a:off x="401444" y="114857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Dog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0F147-33EE-AC42-A628-BC973BA33905}"/>
              </a:ext>
            </a:extLst>
          </p:cNvPr>
          <p:cNvSpPr/>
          <p:nvPr/>
        </p:nvSpPr>
        <p:spPr>
          <a:xfrm>
            <a:off x="401444" y="1666206"/>
            <a:ext cx="1060481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Rscript</a:t>
            </a:r>
            <a:r>
              <a:rPr lang="en-US" dirty="0"/>
              <a:t> </a:t>
            </a:r>
            <a:r>
              <a:rPr lang="en-US" dirty="0" err="1"/>
              <a:t>run_clusterProfiler.R</a:t>
            </a:r>
            <a:r>
              <a:rPr lang="en-US" dirty="0"/>
              <a:t> </a:t>
            </a:r>
          </a:p>
          <a:p>
            <a:r>
              <a:rPr lang="en-US" dirty="0"/>
              <a:t>-f </a:t>
            </a:r>
            <a:r>
              <a:rPr lang="en-US" dirty="0" err="1"/>
              <a:t>DE_control-case_list_no_outliers_dog.txt</a:t>
            </a:r>
            <a:r>
              <a:rPr lang="en-US" dirty="0"/>
              <a:t> </a:t>
            </a:r>
          </a:p>
          <a:p>
            <a:r>
              <a:rPr lang="en-US" dirty="0"/>
              <a:t>-d test_dog_top20terms_allGObranch_pval0.01_foldchange1.5x </a:t>
            </a:r>
          </a:p>
          <a:p>
            <a:r>
              <a:rPr lang="en-US" dirty="0"/>
              <a:t>-s </a:t>
            </a:r>
            <a:r>
              <a:rPr lang="en-US" dirty="0" err="1"/>
              <a:t>Canis_lupus_familiaris</a:t>
            </a:r>
            <a:endParaRPr lang="en-US" dirty="0"/>
          </a:p>
          <a:p>
            <a:r>
              <a:rPr lang="en-US" dirty="0"/>
              <a:t> -n 20 </a:t>
            </a:r>
          </a:p>
          <a:p>
            <a:r>
              <a:rPr lang="en-US" dirty="0"/>
              <a:t>-p 0.01 </a:t>
            </a:r>
          </a:p>
          <a:p>
            <a:r>
              <a:rPr lang="en-US" dirty="0"/>
              <a:t>-a 0.01 </a:t>
            </a:r>
          </a:p>
          <a:p>
            <a:r>
              <a:rPr lang="en-US" dirty="0"/>
              <a:t>-c 1.5</a:t>
            </a:r>
          </a:p>
          <a:p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41434-0624-1643-BA36-CF756ED6BF9E}"/>
              </a:ext>
            </a:extLst>
          </p:cNvPr>
          <p:cNvSpPr txBox="1"/>
          <p:nvPr/>
        </p:nvSpPr>
        <p:spPr>
          <a:xfrm>
            <a:off x="1749171" y="3003471"/>
            <a:ext cx="2605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[p-value cut-off for DEGs]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ED2D7-C3F3-7A45-9360-C7605CCAA04B}"/>
              </a:ext>
            </a:extLst>
          </p:cNvPr>
          <p:cNvSpPr txBox="1"/>
          <p:nvPr/>
        </p:nvSpPr>
        <p:spPr>
          <a:xfrm>
            <a:off x="1749170" y="2722447"/>
            <a:ext cx="451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[reports top 20 ontology terms – all analyses]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005C4-A8F3-4E44-A4C5-EEC3EBA5F096}"/>
              </a:ext>
            </a:extLst>
          </p:cNvPr>
          <p:cNvSpPr txBox="1"/>
          <p:nvPr/>
        </p:nvSpPr>
        <p:spPr>
          <a:xfrm>
            <a:off x="1749171" y="3307897"/>
            <a:ext cx="35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[p-value cut-off for Ontology terms]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927CF-A6FB-F544-BF89-FDAB9966D729}"/>
              </a:ext>
            </a:extLst>
          </p:cNvPr>
          <p:cNvSpPr txBox="1"/>
          <p:nvPr/>
        </p:nvSpPr>
        <p:spPr>
          <a:xfrm>
            <a:off x="1749170" y="3567277"/>
            <a:ext cx="6105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[genes with log2(FC) &gt; 1.5X will be used for pathway analyses]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D22A0C8A-AE43-7944-83B3-AC6919CEC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05" y="4725001"/>
            <a:ext cx="9095799" cy="170659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E6DB3C-4560-2D46-954D-4FF5B794FE20}"/>
              </a:ext>
            </a:extLst>
          </p:cNvPr>
          <p:cNvSpPr txBox="1"/>
          <p:nvPr/>
        </p:nvSpPr>
        <p:spPr>
          <a:xfrm>
            <a:off x="682931" y="4264023"/>
            <a:ext cx="5661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Gene IDs are in ENSEMBL format (which is default setting) 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CF2FCF9E-518C-144C-A9D6-6F18B8F3FB2A}"/>
              </a:ext>
            </a:extLst>
          </p:cNvPr>
          <p:cNvSpPr/>
          <p:nvPr/>
        </p:nvSpPr>
        <p:spPr>
          <a:xfrm>
            <a:off x="1126273" y="4532553"/>
            <a:ext cx="535259" cy="3739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84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9A68C3-646A-044F-92BA-E14C9035E4BE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6EE609-F891-7E46-B7D0-0E8BA5D7CE4C}"/>
              </a:ext>
            </a:extLst>
          </p:cNvPr>
          <p:cNvSpPr/>
          <p:nvPr/>
        </p:nvSpPr>
        <p:spPr>
          <a:xfrm>
            <a:off x="483218" y="1760100"/>
            <a:ext cx="90064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Rscript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run_cluster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rofiler.R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-f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Danio_rerio_DE_table_madefromhumanDFV.txt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-d test_drerio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_top10terms_top150genes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-s </a:t>
            </a:r>
            <a:r>
              <a:rPr lang="en-US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Danio_rerio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-n 10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-g 150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34BBC2-8E14-AE4C-86BE-01D7B6E71F2C}"/>
              </a:ext>
            </a:extLst>
          </p:cNvPr>
          <p:cNvSpPr txBox="1"/>
          <p:nvPr/>
        </p:nvSpPr>
        <p:spPr>
          <a:xfrm>
            <a:off x="401444" y="1148576"/>
            <a:ext cx="106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Zebrafish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98B0C-0174-4142-B093-BD9362AAB5B0}"/>
              </a:ext>
            </a:extLst>
          </p:cNvPr>
          <p:cNvSpPr txBox="1"/>
          <p:nvPr/>
        </p:nvSpPr>
        <p:spPr>
          <a:xfrm>
            <a:off x="141394" y="119797"/>
            <a:ext cx="525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usage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EF0BE-CB6D-AF49-9086-7141AC83D734}"/>
              </a:ext>
            </a:extLst>
          </p:cNvPr>
          <p:cNvSpPr txBox="1"/>
          <p:nvPr/>
        </p:nvSpPr>
        <p:spPr>
          <a:xfrm>
            <a:off x="2027920" y="3145094"/>
            <a:ext cx="4064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[use top 150 genes for pathway analysis]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C8D93-94E9-A347-BB9D-89330551DE85}"/>
              </a:ext>
            </a:extLst>
          </p:cNvPr>
          <p:cNvSpPr/>
          <p:nvPr/>
        </p:nvSpPr>
        <p:spPr>
          <a:xfrm>
            <a:off x="2027920" y="2842668"/>
            <a:ext cx="4510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[reports top 10 ontology terms – all analyses]</a:t>
            </a:r>
          </a:p>
        </p:txBody>
      </p:sp>
    </p:spTree>
    <p:extLst>
      <p:ext uri="{BB962C8B-B14F-4D97-AF65-F5344CB8AC3E}">
        <p14:creationId xmlns:p14="http://schemas.microsoft.com/office/powerpoint/2010/main" val="1156131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B13143-7418-7249-ADE0-F5166EABD4B6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E70FBE-315C-1A4E-B6A9-FACBF678BF10}"/>
              </a:ext>
            </a:extLst>
          </p:cNvPr>
          <p:cNvSpPr txBox="1"/>
          <p:nvPr/>
        </p:nvSpPr>
        <p:spPr>
          <a:xfrm>
            <a:off x="141394" y="119797"/>
            <a:ext cx="12130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uses Over Representation Analysis(ORA) for GO, KEGG, and </a:t>
            </a:r>
            <a:r>
              <a:rPr lang="en-US" sz="2400" b="1" dirty="0" err="1"/>
              <a:t>Reactome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3D04B-C487-A14C-92E9-BB9C551E9CA9}"/>
              </a:ext>
            </a:extLst>
          </p:cNvPr>
          <p:cNvSpPr txBox="1"/>
          <p:nvPr/>
        </p:nvSpPr>
        <p:spPr>
          <a:xfrm>
            <a:off x="490330" y="1126434"/>
            <a:ext cx="113173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ORA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Analyses whether a supplied gene (DEG) list is significantly associated with a particular pathway or set of pathways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a list of gene identifiers (universe) as background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can either be a subset of genes (all genes that are significantly different in the comparison) or all genes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>
                <a:solidFill>
                  <a:srgbClr val="FF0000"/>
                </a:solidFill>
              </a:rPr>
              <a:t>clusterProfiler</a:t>
            </a:r>
            <a:r>
              <a:rPr lang="en-US" dirty="0"/>
              <a:t> wrapper uses </a:t>
            </a:r>
            <a:r>
              <a:rPr lang="en-US" b="1" dirty="0"/>
              <a:t>all genes </a:t>
            </a:r>
            <a:r>
              <a:rPr lang="en-US" dirty="0"/>
              <a:t>as the universe. Gene information is pulled from the respective organism database. </a:t>
            </a:r>
          </a:p>
          <a:p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35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DAA170-399F-5346-B752-D45AA1E936EC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B2A35-783C-8A4C-8267-792E91672650}"/>
              </a:ext>
            </a:extLst>
          </p:cNvPr>
          <p:cNvSpPr txBox="1"/>
          <p:nvPr/>
        </p:nvSpPr>
        <p:spPr>
          <a:xfrm>
            <a:off x="141394" y="119797"/>
            <a:ext cx="499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ClusterProfiler</a:t>
            </a:r>
            <a:r>
              <a:rPr lang="en-US" sz="2400" b="1" dirty="0"/>
              <a:t> wrapper pros and cons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314E4-802E-C042-9FA7-984FC264044E}"/>
              </a:ext>
            </a:extLst>
          </p:cNvPr>
          <p:cNvSpPr txBox="1"/>
          <p:nvPr/>
        </p:nvSpPr>
        <p:spPr>
          <a:xfrm>
            <a:off x="423746" y="1170878"/>
            <a:ext cx="10895740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PROS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Generates </a:t>
            </a:r>
            <a:r>
              <a:rPr lang="en-US" dirty="0" err="1"/>
              <a:t>dotplots</a:t>
            </a:r>
            <a:r>
              <a:rPr lang="en-US" dirty="0"/>
              <a:t>, </a:t>
            </a:r>
            <a:r>
              <a:rPr lang="en-US" dirty="0" err="1"/>
              <a:t>cnetplots</a:t>
            </a:r>
            <a:r>
              <a:rPr lang="en-US" dirty="0"/>
              <a:t>, </a:t>
            </a:r>
            <a:r>
              <a:rPr lang="en-US" dirty="0" err="1"/>
              <a:t>emapplots</a:t>
            </a:r>
            <a:r>
              <a:rPr lang="en-US" dirty="0"/>
              <a:t> for overrepresented terms from GO, KEGG, and REACTOME pathways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All plots that are generated are (hopefully) sized appropriately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Saves ontology term results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Runs KEGG </a:t>
            </a:r>
            <a:r>
              <a:rPr lang="en-US" dirty="0" err="1"/>
              <a:t>pathview</a:t>
            </a:r>
            <a:r>
              <a:rPr lang="en-US" dirty="0"/>
              <a:t> on all enriched KEGG terms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u="sng" dirty="0"/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not currently handle a simple list of 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Currently does not perform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not handle Biological theme comparisons</a:t>
            </a:r>
          </a:p>
          <a:p>
            <a:endParaRPr lang="en-US" dirty="0"/>
          </a:p>
          <a:p>
            <a:r>
              <a:rPr lang="en-US" u="sng" dirty="0"/>
              <a:t>What I would like to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 to activate </a:t>
            </a:r>
            <a:r>
              <a:rPr lang="en-US" dirty="0" err="1"/>
              <a:t>pathview</a:t>
            </a:r>
            <a:r>
              <a:rPr lang="en-US" dirty="0"/>
              <a:t> for KEGG ( it takes a long time to run), default setting = 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 term slimming option </a:t>
            </a:r>
            <a:r>
              <a:rPr lang="en-US" dirty="0">
                <a:sym typeface="Wingdings" pitchFamily="2" charset="2"/>
              </a:rPr>
              <a:t> refine to most descriptive child terms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Ability to handle a list of 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Molecular Signatures DB?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things?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788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BF3CCC-197A-4D44-A753-D5ADCF407953}"/>
              </a:ext>
            </a:extLst>
          </p:cNvPr>
          <p:cNvSpPr/>
          <p:nvPr/>
        </p:nvSpPr>
        <p:spPr>
          <a:xfrm>
            <a:off x="-3569" y="0"/>
            <a:ext cx="12192000" cy="749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172BE-15ED-0C41-A7F4-7A0B5F910599}"/>
              </a:ext>
            </a:extLst>
          </p:cNvPr>
          <p:cNvSpPr txBox="1"/>
          <p:nvPr/>
        </p:nvSpPr>
        <p:spPr>
          <a:xfrm>
            <a:off x="188842" y="190088"/>
            <a:ext cx="2417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ClusterProfiler</a:t>
            </a:r>
            <a:r>
              <a:rPr lang="en-US" b="1" dirty="0"/>
              <a:t> wrapper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86BF1-A4E3-9C4D-B679-BB35732F67B8}"/>
              </a:ext>
            </a:extLst>
          </p:cNvPr>
          <p:cNvSpPr txBox="1"/>
          <p:nvPr/>
        </p:nvSpPr>
        <p:spPr>
          <a:xfrm>
            <a:off x="477079" y="1321905"/>
            <a:ext cx="2452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Download from </a:t>
            </a:r>
            <a:r>
              <a:rPr lang="en-US" b="1" u="sng" dirty="0" err="1"/>
              <a:t>Github</a:t>
            </a:r>
            <a:r>
              <a:rPr lang="en-US" b="1" u="sng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B5056-ADC4-6E4B-928B-375D748C7D0D}"/>
              </a:ext>
            </a:extLst>
          </p:cNvPr>
          <p:cNvSpPr txBox="1"/>
          <p:nvPr/>
        </p:nvSpPr>
        <p:spPr>
          <a:xfrm>
            <a:off x="477079" y="2078968"/>
            <a:ext cx="552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github.umn.edu</a:t>
            </a:r>
            <a:r>
              <a:rPr lang="en-US" dirty="0"/>
              <a:t>/MSI-RIS/</a:t>
            </a:r>
            <a:r>
              <a:rPr lang="en-US" dirty="0" err="1"/>
              <a:t>clusterProfiler_wrapper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52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1575</Words>
  <Application>Microsoft Macintosh PowerPoint</Application>
  <PresentationFormat>Widescreen</PresentationFormat>
  <Paragraphs>313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RIS clusterProfiler wrapper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 clusterProfiler wrapper</dc:title>
  <dc:creator>Marissa Macchietto</dc:creator>
  <cp:lastModifiedBy>Marissa Macchietto</cp:lastModifiedBy>
  <cp:revision>3</cp:revision>
  <dcterms:created xsi:type="dcterms:W3CDTF">2020-12-16T23:28:05Z</dcterms:created>
  <dcterms:modified xsi:type="dcterms:W3CDTF">2020-12-17T18:15:57Z</dcterms:modified>
</cp:coreProperties>
</file>